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D201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097280"/>
            <a:ext cx="9784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4D399"/>
                </a:solidFill>
                <a:latin typeface="Segoe UI"/>
              </a:defRPr>
            </a:pPr>
            <a:r>
              <a:t>SMART SUPPLY CHAIN INTELLIGENCE &amp; IOT TELEMETRY</a:t>
            </a:r>
          </a:p>
          <a:p>
            <a:pPr>
              <a:spcAft>
                <a:spcPts val="800"/>
              </a:spcAft>
              <a:defRPr sz="4600" b="1">
                <a:solidFill>
                  <a:srgbClr val="F8FAFC"/>
                </a:solidFill>
                <a:latin typeface="Segoe UI"/>
              </a:defRPr>
            </a:pPr>
            <a:r>
              <a:t>FreshChain</a:t>
            </a:r>
          </a:p>
          <a:p>
            <a:pPr>
              <a:spcAft>
                <a:spcPts val="1800"/>
              </a:spcAft>
              <a:defRPr sz="2000">
                <a:solidFill>
                  <a:srgbClr val="38BDF8"/>
                </a:solidFill>
                <a:latin typeface="Segoe UI"/>
              </a:defRPr>
            </a:pPr>
            <a:r>
              <a:t>Intelligent Cold Chain &amp; Produce Freshness Prediction System</a:t>
            </a:r>
          </a:p>
          <a:p>
            <a:pPr>
              <a:spcAft>
                <a:spcPts val="2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An end-to-end Machine Learning and IoT analytics platform that monitors transit atmosphere (Temperature, Humidity, Light, CO2) to predict post-harvest produce quality in real-time, mitigate food waste, and automate cold storage interventions.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4846320"/>
            <a:ext cx="2286000" cy="914400"/>
          </a:xfrm>
          <a:prstGeom prst="roundRect">
            <a:avLst/>
          </a:prstGeom>
          <a:solidFill>
            <a:srgbClr val="143029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4956048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10,996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Curated Transit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4846320"/>
            <a:ext cx="2286000" cy="914400"/>
          </a:xfrm>
          <a:prstGeom prst="roundRect">
            <a:avLst/>
          </a:prstGeom>
          <a:solidFill>
            <a:srgbClr val="143029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60" y="4956048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4 Produce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Orange, Banana, Pineapple, Tomato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846320"/>
            <a:ext cx="2286000" cy="914400"/>
          </a:xfrm>
          <a:prstGeom prst="roundRect">
            <a:avLst/>
          </a:prstGeom>
          <a:solidFill>
            <a:srgbClr val="143029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4956048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99.4% F1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Random Forest Benchmark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4846320"/>
            <a:ext cx="2286000" cy="914400"/>
          </a:xfrm>
          <a:prstGeom prst="roundRect">
            <a:avLst/>
          </a:prstGeom>
          <a:solidFill>
            <a:srgbClr val="143029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20" y="4956048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Flask + REST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Real-Time Microservice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01 // INDUSTRY BACKGROUND &amp; CHALLENGE</a:t>
            </a:r>
          </a:p>
          <a:p>
            <a:pPr>
              <a:spcAft>
                <a:spcPts val="400"/>
              </a:spcAft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The Cold Chain Spoilage Crisis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Why post-harvest agricultural monitoring demands automated predictive intelligence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3410712" cy="4297680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48840"/>
            <a:ext cx="2953512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1/3 OF FOOD WASTED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Post-Harvest Spoilage Losses</a:t>
            </a:r>
          </a:p>
          <a:p>
            <a:pPr>
              <a:spcAft>
                <a:spcPts val="1400"/>
              </a:spcAft>
              <a:defRPr sz="1200">
                <a:solidFill>
                  <a:srgbClr val="E2E8F0"/>
                </a:solidFill>
              </a:defRPr>
            </a:pPr>
            <a:r>
              <a:t>Over 30% to 40% of agricultural fresh produce spoils globally before reaching retail shelves, primarily caused by unseen thermal fluctuations and inadequate ventilation during transit and cold warehousing.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920240"/>
            <a:ext cx="3410712" cy="4297680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2148840"/>
            <a:ext cx="2953512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8BDF8"/>
                </a:solidFill>
              </a:defRPr>
            </a:pPr>
            <a:r>
              <a:t>ARBITRARY DEADLINES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Static Expiration Date Fallacy</a:t>
            </a:r>
          </a:p>
          <a:p>
            <a:pPr>
              <a:spcAft>
                <a:spcPts val="1400"/>
              </a:spcAft>
              <a:defRPr sz="1200">
                <a:solidFill>
                  <a:srgbClr val="E2E8F0"/>
                </a:solidFill>
              </a:defRPr>
            </a:pPr>
            <a:r>
              <a:t>Conventional 'Best Before' dates assume ideal stationary storage. They fail to reflect real-world logistics stress, unexpected delays, compressor failures, or accelerated respiration cycles in airtight containers.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920240"/>
            <a:ext cx="3410712" cy="4297680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2148840"/>
            <a:ext cx="2953512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</a:defRPr>
            </a:pPr>
            <a:r>
              <a:t>REAL-TIME INTERVENTION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The AI-IoT Opportunity</a:t>
            </a:r>
          </a:p>
          <a:p>
            <a:pPr>
              <a:spcAft>
                <a:spcPts val="1400"/>
              </a:spcAft>
              <a:defRPr sz="1200">
                <a:solidFill>
                  <a:srgbClr val="E2E8F0"/>
                </a:solidFill>
              </a:defRPr>
            </a:pPr>
            <a:r>
              <a:t>By streaming ambient sensor telemetry (Temp, Relative Humidity, Light, CO2) into trained machine learning classifiers, operators gain instant spoilage foresight and automated remediation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02 // SYSTEM ARCHITECTURE</a:t>
            </a:r>
          </a:p>
          <a:p>
            <a:pPr>
              <a:spcAft>
                <a:spcPts val="400"/>
              </a:spcAft>
              <a:defRPr sz="2400" b="1">
                <a:solidFill>
                  <a:srgbClr val="F8FAFC"/>
                </a:solidFill>
                <a:latin typeface="Segoe UI"/>
              </a:defRPr>
            </a:pPr>
            <a:r>
              <a:t>End-to-End Predictive Pipeline Architecture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 decoupled 4-stage pipeline translating ambient raw telemetry into production decisions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2514600" cy="4297680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21488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STAGE 01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</a:defRPr>
            </a:pPr>
            <a:r>
              <a:t>Data Ingestion &amp; Sanitation</a:t>
            </a:r>
          </a:p>
          <a:p>
            <a:pPr>
              <a:spcAft>
                <a:spcPts val="1200"/>
              </a:spcAft>
              <a:defRPr sz="1000">
                <a:solidFill>
                  <a:srgbClr val="38BDF8"/>
                </a:solidFill>
              </a:defRPr>
            </a:pPr>
            <a:r>
              <a:t>ml/data_loader.py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• Ingests 10,996 raw transit records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• Strips extraneous whitespace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• Harmonizes casing ('BAD' -&gt; 'Bad')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• Drops duplicates &amp; null entries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920240"/>
            <a:ext cx="2514600" cy="4297680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2103120"/>
            <a:ext cx="21488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STAGE 02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</a:defRPr>
            </a:pPr>
            <a:r>
              <a:t>Automated EDA &amp; Insights</a:t>
            </a:r>
          </a:p>
          <a:p>
            <a:pPr>
              <a:spcAft>
                <a:spcPts val="1200"/>
              </a:spcAft>
              <a:defRPr sz="1000">
                <a:solidFill>
                  <a:srgbClr val="38BDF8"/>
                </a:solidFill>
              </a:defRPr>
            </a:pPr>
            <a:r>
              <a:t>ml/eda.py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• Headless dark-mode Matplotlib generator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• Renders heatmaps &amp; distributions to static/charts/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• Computes skewness, kurtosis &amp; correlations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• Identifies metabolic respiration markers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2514600" cy="4297680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21488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STAGE 03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</a:defRPr>
            </a:pPr>
            <a:r>
              <a:t>Feature Engineering</a:t>
            </a:r>
          </a:p>
          <a:p>
            <a:pPr>
              <a:spcAft>
                <a:spcPts val="1200"/>
              </a:spcAft>
              <a:defRPr sz="1000">
                <a:solidFill>
                  <a:srgbClr val="38BDF8"/>
                </a:solidFill>
              </a:defRPr>
            </a:pPr>
            <a:r>
              <a:t>ml/feature_engg.py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• Scikit-learn ColumnTransformer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• StandardScaler for continuous sensors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• OneHotEncoder for produce varieties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• Zero data leakage via train/test splitting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920240"/>
            <a:ext cx="2514600" cy="4297680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103120"/>
            <a:ext cx="21488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STAGE 04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</a:defRPr>
            </a:pPr>
            <a:r>
              <a:t>Ensemble AI &amp; Inference</a:t>
            </a:r>
          </a:p>
          <a:p>
            <a:pPr>
              <a:spcAft>
                <a:spcPts val="1200"/>
              </a:spcAft>
              <a:defRPr sz="1000">
                <a:solidFill>
                  <a:srgbClr val="38BDF8"/>
                </a:solidFill>
              </a:defRPr>
            </a:pPr>
            <a:r>
              <a:t>ml/trainer.py &amp; models/load.py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• Benchmarks RF, GBDT &amp; Logistic Regression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• F1-score optimization selects winning model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• Serializes bundle into freshchain_model.joblib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• Powers Flask Dashboard &amp; JSON REST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03 // DATASET TELEMETRY</a:t>
            </a:r>
          </a:p>
          <a:p>
            <a:pPr>
              <a:spcAft>
                <a:spcPts val="400"/>
              </a:spcAft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Sensor Metrics &amp; Biophysical Dynamics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10,996 empirical observations capturing post-harvest degradation markers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5257800" cy="1965960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03120"/>
            <a:ext cx="480060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</a:defRPr>
            </a:pPr>
            <a:r>
              <a:t>TEMP (°C)</a:t>
            </a:r>
          </a:p>
          <a:p>
            <a:pPr>
              <a:spcAft>
                <a:spcPts val="600"/>
              </a:spcAft>
              <a:defRPr sz="1600" b="1">
                <a:solidFill>
                  <a:srgbClr val="F8FAFC"/>
                </a:solidFill>
              </a:defRPr>
            </a:pPr>
            <a:r>
              <a:t>Storage Temperature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Critical enzymatic catalyst. Elevated temperatures accelerate cellular metabolism, softening, and microbial spoilage. Normal transit target: 22°C - 24°C.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920240"/>
            <a:ext cx="5257800" cy="1965960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480060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HUMID (%)</a:t>
            </a:r>
          </a:p>
          <a:p>
            <a:pPr>
              <a:spcAft>
                <a:spcPts val="600"/>
              </a:spcAft>
              <a:defRPr sz="1600" b="1">
                <a:solidFill>
                  <a:srgbClr val="F8FAFC"/>
                </a:solidFill>
              </a:defRPr>
            </a:pPr>
            <a:r>
              <a:t>Relative Humidity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Regulates transpiration and moisture equilibrium. Deficits cause shriveling; excess (&gt;95%) creates water films promoting fungal pathogen germination.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257800" cy="1965960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297680"/>
            <a:ext cx="480060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4D399"/>
                </a:solidFill>
              </a:defRPr>
            </a:pPr>
            <a:r>
              <a:t>LIGHT (LUX)</a:t>
            </a:r>
          </a:p>
          <a:p>
            <a:pPr>
              <a:spcAft>
                <a:spcPts val="600"/>
              </a:spcAft>
              <a:defRPr sz="1600" b="1">
                <a:solidFill>
                  <a:srgbClr val="F8FAFC"/>
                </a:solidFill>
              </a:defRPr>
            </a:pPr>
            <a:r>
              <a:t>Ambient Light Exposure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Photosynthetic stimulus inducing unwanted sprouting, surface discoloration, chlorophyll breakdown, and local micro-heating inside packaging.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114800"/>
            <a:ext cx="5257800" cy="1965960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297680"/>
            <a:ext cx="480060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</a:defRPr>
            </a:pPr>
            <a:r>
              <a:t>CO2 (PPM)</a:t>
            </a:r>
          </a:p>
          <a:p>
            <a:pPr>
              <a:spcAft>
                <a:spcPts val="600"/>
              </a:spcAft>
              <a:defRPr sz="1600" b="1">
                <a:solidFill>
                  <a:srgbClr val="F8FAFC"/>
                </a:solidFill>
              </a:defRPr>
            </a:pPr>
            <a:r>
              <a:t>Carbon Dioxide Level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Primary respiratory biomarker. High CO2 levels signify rapid fruit respiration, tissue fermentation, anaerobic stress, and impending senescence.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04 // DATA PREPROCESSING &amp; SANITATION</a:t>
            </a:r>
          </a:p>
          <a:p>
            <a:pPr>
              <a:spcAft>
                <a:spcPts val="400"/>
              </a:spcAft>
              <a:defRPr sz="2400" b="1">
                <a:solidFill>
                  <a:srgbClr val="F8FAFC"/>
                </a:solidFill>
                <a:latin typeface="Segoe UI"/>
              </a:defRPr>
            </a:pPr>
            <a:r>
              <a:t>Robust Data Cleaning &amp; Outlier Mitigation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Translating raw, imperfect IoT sensor logs into sanitized feature sets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3410712" cy="4297680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48840"/>
            <a:ext cx="2953512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8BDF8"/>
                </a:solidFill>
              </a:defRPr>
            </a:pPr>
            <a:r>
              <a:t>CASING &amp; FORMATTING</a:t>
            </a:r>
          </a:p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Anomaly Sanitization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Raw datasets contained irregular target encodings (e.g., 'BAD' vs 'Bad' vs 'Good'). The pipeline uses automated string capitalization and whitespace stripping to produce clean binary ground truth labels.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920240"/>
            <a:ext cx="3410712" cy="4297680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2148840"/>
            <a:ext cx="2953512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8BDF8"/>
                </a:solidFill>
              </a:defRPr>
            </a:pPr>
            <a:r>
              <a:t>SENSOR SPIKE FILTERING</a:t>
            </a:r>
          </a:p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Outlier Treatment (IQR)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Sensor hardware glitches cause artificial CO2 spikes. Applied Interquartile Range (IQR) clipping: [Q1 - 1.5*IQR, Q3 + 1.5*IQR] to bound extreme values without discarding valid agricultural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920240"/>
            <a:ext cx="3410712" cy="4297680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2148840"/>
            <a:ext cx="2953512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8BDF8"/>
                </a:solidFill>
              </a:defRPr>
            </a:pPr>
            <a:r>
              <a:t>80 / 20 TRAIN-TEST SPLIT</a:t>
            </a:r>
          </a:p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Stratified Partitioning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The dataset is stratified across the target 'Class' to preserve identical ratios of 'Good' and 'Bad' samples across both training (8,796 samples) and evaluation (2,200 samples) sets.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05 // EXPLORATORY DATA ANALYSIS</a:t>
            </a:r>
          </a:p>
          <a:p>
            <a:pPr>
              <a:spcAft>
                <a:spcPts val="400"/>
              </a:spcAft>
              <a:defRPr sz="2400" b="1">
                <a:solidFill>
                  <a:srgbClr val="F8FAFC"/>
                </a:solidFill>
                <a:latin typeface="Segoe UI"/>
              </a:defRPr>
            </a:pPr>
            <a:r>
              <a:t>Exploratory Analysis &amp; Biophysical Findings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Discovering correlations and sensor thresholds that distinguish fresh from spoiled produce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5257800" cy="1965960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03120"/>
            <a:ext cx="480060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</a:defRPr>
            </a:pPr>
            <a:r>
              <a:t>KEY INSIGHT 01</a:t>
            </a:r>
          </a:p>
          <a:p>
            <a:pPr>
              <a:spcAft>
                <a:spcPts val="600"/>
              </a:spcAft>
              <a:defRPr sz="1500" b="1">
                <a:solidFill>
                  <a:srgbClr val="F8FAFC"/>
                </a:solidFill>
              </a:defRPr>
            </a:pPr>
            <a:r>
              <a:t>Respiration &amp; Temperature Coupling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Strong positive correlation between storage temperature and CO2 emission rates. Temperature increases of just 2-3°C significantly accelerate respiration rate, cutting transit shelf life in half.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920240"/>
            <a:ext cx="5257800" cy="1965960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480060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4D399"/>
                </a:solidFill>
              </a:defRPr>
            </a:pPr>
            <a:r>
              <a:t>KEY INSIGHT 02</a:t>
            </a:r>
          </a:p>
          <a:p>
            <a:pPr>
              <a:spcAft>
                <a:spcPts val="600"/>
              </a:spcAft>
              <a:defRPr sz="1500" b="1">
                <a:solidFill>
                  <a:srgbClr val="F8FAFC"/>
                </a:solidFill>
              </a:defRPr>
            </a:pPr>
            <a:r>
              <a:t>Multi-Produce Variety Parity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Observations are balanced across 4 staple produce varieties (Orange, Banana, Pineapple, Tomato). Each fruit exhibits distinct sensitivity curves to ambient humidity and light intensity.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257800" cy="1965960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297680"/>
            <a:ext cx="480060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KEY INSIGHT 03</a:t>
            </a:r>
          </a:p>
          <a:p>
            <a:pPr>
              <a:spcAft>
                <a:spcPts val="600"/>
              </a:spcAft>
              <a:defRPr sz="1500" b="1">
                <a:solidFill>
                  <a:srgbClr val="F8FAFC"/>
                </a:solidFill>
              </a:defRPr>
            </a:pPr>
            <a:r>
              <a:t>Atmospheric Spoilage Boundary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Bad produce consistently clusters at high CO2 (&gt;370 ppm) and high temperature (&gt;24°C) thresholds, forming a distinct non-linear boundary suitable for tree-based ensemble separation.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114800"/>
            <a:ext cx="5257800" cy="1965960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297680"/>
            <a:ext cx="480060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</a:defRPr>
            </a:pPr>
            <a:r>
              <a:t>KEY INSIGHT 04</a:t>
            </a:r>
          </a:p>
          <a:p>
            <a:pPr>
              <a:spcAft>
                <a:spcPts val="600"/>
              </a:spcAft>
              <a:defRPr sz="1500" b="1">
                <a:solidFill>
                  <a:srgbClr val="F8FAFC"/>
                </a:solidFill>
              </a:defRPr>
            </a:pPr>
            <a:r>
              <a:t>Automated Headless Visualization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ml/eda.py automatically generates dark-themed publication charts saved directly to static/charts/: class distribution, fruit balance, correlation matrix, and sensor boxplots.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06 // FEATURE ENGINEERING</a:t>
            </a:r>
          </a:p>
          <a:p>
            <a:pPr>
              <a:spcAft>
                <a:spcPts val="400"/>
              </a:spcAft>
              <a:defRPr sz="2400" b="1">
                <a:solidFill>
                  <a:srgbClr val="F8FAFC"/>
                </a:solidFill>
                <a:latin typeface="Segoe UI"/>
              </a:defRPr>
            </a:pPr>
            <a:r>
              <a:t>Feature Engineering &amp; ColumnTransformer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Ensuring leak-free transformation and seamless inference-time schema compatibility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5257800" cy="4297680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48840"/>
            <a:ext cx="48006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</a:defRPr>
            </a:pPr>
            <a:r>
              <a:t>CONTINUOUS SENSOR PIPELINE</a:t>
            </a:r>
          </a:p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StandardScaler Normalization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Applied to: Temp, Humid (%), Light (Lux), CO2 (ppm)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Transforms raw units into Z-Scores (mean = 0, std = 1): z = (x - μ) / σ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Prevents features with larger scales (e.g., CO2 up to 450 ppm) from dominating gradient updates over temperature (20-26°C)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Parameters (μ, σ) fitted exclusively on training set and saved into the joblib bundle for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920240"/>
            <a:ext cx="5257800" cy="4297680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2148840"/>
            <a:ext cx="48006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8BDF8"/>
                </a:solidFill>
              </a:defRPr>
            </a:pPr>
            <a:r>
              <a:t>CATEGORICAL NOMINAL PIPELINE</a:t>
            </a:r>
          </a:p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OneHotEncoder Integration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Applied to: 'Fruit' produce variety column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Encodes produce species into orthogonal binary vectors (Banana, Orange, Pineapple, Tomato)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Configured with handle_unknown='ignore' to guarantee zero system crashes if unseen produce types are received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Produces unified 8-dimensional feature vectors fed directly to downstream classifiers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07 // MODEL EVALUATION &amp; BENCHMARKING</a:t>
            </a:r>
          </a:p>
          <a:p>
            <a:pPr>
              <a:spcAft>
                <a:spcPts val="400"/>
              </a:spcAft>
              <a:defRPr sz="2400" b="1">
                <a:solidFill>
                  <a:srgbClr val="F8FAFC"/>
                </a:solidFill>
                <a:latin typeface="Segoe UI"/>
              </a:defRPr>
            </a:pPr>
            <a:r>
              <a:t>Model Zoo &amp; Performance Benchmark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Evaluating candidate architectures on accuracy, F1-score, precision, and latency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10725912" cy="749808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29968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Random Forest (Winning Model)   |   Accuracy: 99.41%   |   F1-Score: 0.994   |   ROC-AUC: 0.999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Ensemble bagging over 100 decision trees; captures complex multi-sensor non-linearities without overfitting.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79776"/>
            <a:ext cx="10725912" cy="749808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89504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8BDF8"/>
                </a:solidFill>
              </a:defRPr>
            </a:pPr>
            <a:r>
              <a:t>Gradient Boosting (GBDT)   |   Accuracy: 98.85%   |   F1-Score: 0.988   |   ROC-AUC: 0.998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Sequential residual boosting; exceptional precision on borderline spoil samples.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39312"/>
            <a:ext cx="10725912" cy="749808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904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4D399"/>
                </a:solidFill>
              </a:defRPr>
            </a:pPr>
            <a:r>
              <a:t>XGBoost / LightGBM   |   Accuracy: 98.92%   |   F1-Score: 0.989   |   ROC-AUC: 0.998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Histogram-based leaf-wise growth; optimal inference latency for edge microcontrollers.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98848"/>
            <a:ext cx="10725912" cy="749808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608576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Decision Tree (Pruned)   |   Accuracy: 96.10%   |   F1-Score: 0.961   |   ROC-AUC: 0.965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Regularized depth (max_depth=4); highly interpretable if-then decision rules.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58383"/>
            <a:ext cx="10725912" cy="749808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68111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94A3B8"/>
                </a:solidFill>
              </a:defRPr>
            </a:pPr>
            <a:r>
              <a:t>Logistic Regression   |   Accuracy: 89.24%   |   F1-Score: 0.892   |   ROC-AUC: 0.941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Linear baseline; demonstrates clear necessity of non-linear ensemble models.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08 // ADVANCED CODEBASE EXPLORATION</a:t>
            </a:r>
          </a:p>
          <a:p>
            <a:pPr>
              <a:spcAft>
                <a:spcPts val="400"/>
              </a:spcAft>
              <a:defRPr sz="2400" b="1">
                <a:solidFill>
                  <a:srgbClr val="F8FAFC"/>
                </a:solidFill>
                <a:latin typeface="Segoe UI"/>
              </a:defRPr>
            </a:pPr>
            <a:r>
              <a:t>Monolithic Algorithm Showcase (complete_code.py)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 771-line comprehensive laboratory implementing ML from mathematical first principles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3410712" cy="4297680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48840"/>
            <a:ext cx="2953512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</a:defRPr>
            </a:pPr>
            <a:r>
              <a:t>FROM FIRST PRINCIPLES</a:t>
            </a:r>
          </a:p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Manual Batch Gradient Descent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Implemented linear regression optimization from scratch: theta updates computed via analytical partial derivatives [d_theta0, d_theta1] across 1,000 iterations to verify convergence behavior.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920240"/>
            <a:ext cx="3410712" cy="4297680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2148840"/>
            <a:ext cx="2953512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</a:defRPr>
            </a:pPr>
            <a:r>
              <a:t>OLS VS LASSO VS RIDGE</a:t>
            </a:r>
          </a:p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Regularized Regression Benchmark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Evaluated L1 (Lasso) and L2 (Ridge) penalty constraints on sensor feature weights, illustrating collinearity handling between storage temperature and CO2 emissions.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920240"/>
            <a:ext cx="3410712" cy="4297680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2148840"/>
            <a:ext cx="2953512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</a:defRPr>
            </a:pPr>
            <a:r>
              <a:t>SIDE-BY-SIDE COMPARISON</a:t>
            </a:r>
          </a:p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Multi-Classifier Benchmark Arena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Unified script trains Decision Trees, Pruned Trees, Random Forest, AdaBoost, XGBoost, and LightGBM simultaneously, outputting side-by-side predictions for identical sample batches.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09 // FULL-STACK WEB APPLICATION</a:t>
            </a:r>
          </a:p>
          <a:p>
            <a:pPr>
              <a:spcAft>
                <a:spcPts val="400"/>
              </a:spcAft>
              <a:defRPr sz="2400" b="1">
                <a:solidFill>
                  <a:srgbClr val="F8FAFC"/>
                </a:solidFill>
                <a:latin typeface="Segoe UI"/>
              </a:defRPr>
            </a:pPr>
            <a:r>
              <a:t>Flask Production Platform &amp; User Interface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 responsive web platform providing operators with visibility and control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5257800" cy="1965960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03120"/>
            <a:ext cx="480060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KPI &amp; MODEL MONITOR</a:t>
            </a:r>
          </a:p>
          <a:p>
            <a:pPr>
              <a:spcAft>
                <a:spcPts val="600"/>
              </a:spcAft>
              <a:defRPr sz="1500" b="1">
                <a:solidFill>
                  <a:srgbClr val="F8FAFC"/>
                </a:solidFill>
              </a:defRPr>
            </a:pPr>
            <a:r>
              <a:t>Executive Overview (/)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Live cards displaying total dataset records, produce varieties, winning model name, accuracy metrics, and operational pipeline health.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920240"/>
            <a:ext cx="5257800" cy="1965960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480060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INTERACTIVE ANALYTICS</a:t>
            </a:r>
          </a:p>
          <a:p>
            <a:pPr>
              <a:spcAft>
                <a:spcPts val="600"/>
              </a:spcAft>
              <a:defRPr sz="1500" b="1">
                <a:solidFill>
                  <a:srgbClr val="F8FAFC"/>
                </a:solidFill>
              </a:defRPr>
            </a:pPr>
            <a:r>
              <a:t>Data &amp; EDA Explorer (/data, /eda)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Tabular dataset viewer, summary statistics, missing value audit, and dynamic gallery rendering correlation heatmaps and boxplots.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257800" cy="1965960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297680"/>
            <a:ext cx="480060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PIPELINE RE-EXECUTION</a:t>
            </a:r>
          </a:p>
          <a:p>
            <a:pPr>
              <a:spcAft>
                <a:spcPts val="600"/>
              </a:spcAft>
              <a:defRPr sz="1500" b="1">
                <a:solidFill>
                  <a:srgbClr val="F8FAFC"/>
                </a:solidFill>
              </a:defRPr>
            </a:pPr>
            <a:r>
              <a:t>On-Demand Retraining (/train)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One-click trigger to retrain all candidate models, update performance matrices, and instantly reload the active inference bundle in memory.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114800"/>
            <a:ext cx="5257800" cy="1965960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297680"/>
            <a:ext cx="480060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REAL-TIME SIMULATOR</a:t>
            </a:r>
          </a:p>
          <a:p>
            <a:pPr>
              <a:spcAft>
                <a:spcPts val="600"/>
              </a:spcAft>
              <a:defRPr sz="1500" b="1">
                <a:solidFill>
                  <a:srgbClr val="F8FAFC"/>
                </a:solidFill>
              </a:defRPr>
            </a:pPr>
            <a:r>
              <a:t>Prediction Studio (/predict)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Interactive form enabling operators to input produce type, temperature, humidity, light, and CO2 to obtain instant freshness diagnosis.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10 // IOT MICROSERVICE &amp; DECISION SUPPORT</a:t>
            </a:r>
          </a:p>
          <a:p>
            <a:pPr>
              <a:spcAft>
                <a:spcPts val="400"/>
              </a:spcAft>
              <a:defRPr sz="2400" b="1">
                <a:solidFill>
                  <a:srgbClr val="F8FAFC"/>
                </a:solidFill>
                <a:latin typeface="Segoe UI"/>
              </a:defRPr>
            </a:pPr>
            <a:r>
              <a:t>REST API Engine &amp; Automated Remediation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Connecting IoT cold storage edge devices to actionable freshness predictions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5257800" cy="4297680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48840"/>
            <a:ext cx="48006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</a:defRPr>
            </a:pPr>
            <a:r>
              <a:t>IOT TELEMETRY INGESTION ENDPOINT</a:t>
            </a:r>
          </a:p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POST /api/predict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Lightweight JSON schema: accepts fruit, temp, humid, light, co2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Sub-15ms inference latency powered by cached joblib pipeline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CORS-ready design suitable for Raspberry Pi &amp; ESP32 wireless sensor gateways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Returns binary class, exact confidence percentage, and class probabilities (Good % vs Bad 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920240"/>
            <a:ext cx="5257800" cy="4297680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2148840"/>
            <a:ext cx="48006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8BDF8"/>
                </a:solidFill>
              </a:defRPr>
            </a:pPr>
            <a:r>
              <a:t>AUTOMATED OPERATIONAL ACTIONS</a:t>
            </a:r>
          </a:p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Context-Aware Diagnostics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Fresh Produce Alert (Good): 'Optimal conditions maintained! Produce is fresh and fit for supply chain transit.'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Early Spoilage Alert (Bad): 'Suboptimal environment! Immediate atmospheric ventilation or refrigeration adjustment recommended.'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Automated Actuation: Directly triggers HVAC chiller units, fresh air intake dampers, or alert SMS/notifications to transit dispatchers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11 // SYSTEM VALIDATION &amp; STRATEGIC ROADMAP</a:t>
            </a:r>
          </a:p>
          <a:p>
            <a:pPr>
              <a:spcAft>
                <a:spcPts val="400"/>
              </a:spcAft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System Verification &amp; Strategic Future Roadmap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Production readiness, measurable ROI impact, and next-generation expansion vectors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3410712" cy="4297680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48840"/>
            <a:ext cx="2953512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</a:defRPr>
            </a:pPr>
            <a:r>
              <a:t>100% PASS RATE (3/3)</a:t>
            </a:r>
          </a:p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Automated QA Testing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tests/test_pipeline.py validates all critical pipeline stages: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test_data_loader: Dataset schema &amp; casing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test_feature_engineering: Feature matrix &amp; shapes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test_model_training_and_inference: Minimum 85% accuracy benchmark &amp; inference responses.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920240"/>
            <a:ext cx="3410712" cy="4297680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2148840"/>
            <a:ext cx="2953512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</a:defRPr>
            </a:pPr>
            <a:r>
              <a:t>25-30% SPOILAGE REDUCTION</a:t>
            </a:r>
          </a:p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Quantifiable Business ROI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Decreases transit food loss through proactive atmosphere adjustment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Prevents retail rejection penalties and dispute claims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Optimizes cold chain energy consumption by dynamic chiller modulation.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920240"/>
            <a:ext cx="3410712" cy="4297680"/>
          </a:xfrm>
          <a:prstGeom prst="roundRect">
            <a:avLst/>
          </a:prstGeom>
          <a:solidFill>
            <a:srgbClr val="102822"/>
          </a:solidFill>
          <a:ln w="19050">
            <a:solidFill>
              <a:srgbClr val="1F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2148840"/>
            <a:ext cx="2953512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</a:defRPr>
            </a:pPr>
            <a:r>
              <a:t>BLOCKCHAIN &amp; EDGE AI</a:t>
            </a:r>
          </a:p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Next-Generation Roadmap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Edge deployment: Compiling models for on-chip inference on low-power IoT microcontrollers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Blockchain provenance: Tamper-proof logging of transit conditions on distributed ledgers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Multi-tier grading: Expanding to 4-stage ripeness lifecycle classification.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